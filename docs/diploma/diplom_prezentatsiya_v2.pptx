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12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48640"/>
            <a:ext cx="1280160" cy="128016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TOSHKENT AXBOROT TEXNOLOGIYALARI UNIVERSITETI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Kompyuter injiniringi fakulteti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C4899"/>
                </a:solidFill>
                <a:latin typeface="Calibri"/>
              </a:rPr>
              <a:t>DIPLOM LOYIHASI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69848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Ijtimoiy tarmoqlarda foydalanuvchilar
faolligini tahlil qilish axborot tizimini
ishlab chiqish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Bitiruvchi: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52120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Ro'zimurodov Sardor Qurbonmurod o'g'li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Rahbar: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55778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Sodiqov V.S.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Toshkent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127C2"/>
                </a:solidFill>
                <a:latin typeface="Calibri"/>
              </a:rPr>
              <a:t>Loyiha nima qiladi?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Bir gap bilan: ijtimoiy tarmoq akkauntlaringizni tahlil qiluvchi web tizim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EC4899"/>
                </a:solidFill>
                <a:latin typeface="Calibri"/>
              </a:rPr>
              <a:t>•  </a:t>
            </a:r>
            <a:r>
              <a:rPr sz="2000">
                <a:solidFill>
                  <a:srgbClr val="0F172A"/>
                </a:solidFill>
                <a:latin typeface="Calibri"/>
              </a:rPr>
              <a:t>Foydalanuvchi 5 ta ijtimoiy tarmoqdagi akkauntini ulashtirib qo'yadi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EC4899"/>
                </a:solidFill>
                <a:latin typeface="Calibri"/>
              </a:rPr>
              <a:t>•  </a:t>
            </a:r>
            <a:r>
              <a:rPr sz="2000">
                <a:solidFill>
                  <a:srgbClr val="0F172A"/>
                </a:solidFill>
                <a:latin typeface="Calibri"/>
              </a:rPr>
              <a:t>Tizim har 6 soatda fonda yangi postlar va kommentlarni yig'ib oladi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EC4899"/>
                </a:solidFill>
                <a:latin typeface="Calibri"/>
              </a:rPr>
              <a:t>•  </a:t>
            </a:r>
            <a:r>
              <a:rPr sz="2000">
                <a:solidFill>
                  <a:srgbClr val="0F172A"/>
                </a:solidFill>
                <a:latin typeface="Calibri"/>
              </a:rPr>
              <a:t>AI yordamida har bir komment pozitiv / neytral / negativ sifatida tahlil qilinadi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EC4899"/>
                </a:solidFill>
                <a:latin typeface="Calibri"/>
              </a:rPr>
              <a:t>•  </a:t>
            </a:r>
            <a:r>
              <a:rPr sz="2000">
                <a:solidFill>
                  <a:srgbClr val="0F172A"/>
                </a:solidFill>
                <a:latin typeface="Calibri"/>
              </a:rPr>
              <a:t>Foydalanuvchi dashboarddan tushunarli grafiklar va tavsiyalar oladi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EC4899"/>
                </a:solidFill>
                <a:latin typeface="Calibri"/>
              </a:rPr>
              <a:t>•  </a:t>
            </a:r>
            <a:r>
              <a:rPr sz="2000">
                <a:solidFill>
                  <a:srgbClr val="0F172A"/>
                </a:solidFill>
                <a:latin typeface="Calibri"/>
              </a:rPr>
              <a:t>Hisobot PDF / Excel formatida saqlash yoki public link orqali ulashish mumkin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127C2"/>
                </a:solidFill>
                <a:latin typeface="Calibri"/>
              </a:rPr>
              <a:t>Qanday muammoni yechadi?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O'zbekistondagi blogerlar, biznes va SMM-mutaxassislar uchun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97706"/>
                </a:solidFill>
                <a:latin typeface="Calibri"/>
              </a:rPr>
              <a:t>MUAMMO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Akkauntdagi rivojlanishni qo'lda kuzatish qiyin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Kommentlarni manual o'qib, kayfiyatni baholash imkonsiz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Hootsuite / Brand24 — qimmat ($79-99/oy) va o'zbek tilida ishlamaydi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Bir nechta platforma birlashgan bepul yechim yo'q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AI tahlil — faqat ingliz tilida, mahalliy NLP yo'q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6A34A"/>
                </a:solidFill>
                <a:latin typeface="Calibri"/>
              </a:rPr>
              <a:t>BIZNING YECHIM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Avtomatik fonda kuzatuv — har 6 soatda yangilanadi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AI kommentlarni o'zi tahlil qiladi va gradik chizadi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Bepul, open-source, har kim foydalanishi mumkin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5 ta platforma bir interfeysda: TG, YT, VK, IG, X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Sentiment uz/ru/en — XLM-RoBERTa multilingual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127C2"/>
                </a:solidFill>
                <a:latin typeface="Calibri"/>
              </a:rPr>
              <a:t>Odamlar uchun foydasi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Kim, qanday vaziyatda foydalansa qulay bo'ladi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23774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0F172A"/>
                </a:solidFill>
                <a:latin typeface="Calibri"/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2880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127C2"/>
                </a:solidFill>
                <a:latin typeface="Calibri"/>
              </a:rPr>
              <a:t>Bloger / kontent ijodkori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31720"/>
            <a:ext cx="438912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Postlari qaysi vaqt va format ko'p engagement berishini ko'radi. Auditoriyaning haqiqiy kayfiyatini biladi.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486400" cy="23774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0F172A"/>
                </a:solidFill>
                <a:latin typeface="Calibri"/>
              </a:rPr>
              <a:t>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82880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127C2"/>
                </a:solidFill>
                <a:latin typeface="Calibri"/>
              </a:rPr>
              <a:t>Kichik biznes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331720"/>
            <a:ext cx="438912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Brand24 yoki Hootsuite kabi $99/oy yechimga $0/oy alternativ. PDF hisobotni mijozga yuborish mumkin.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69080"/>
            <a:ext cx="5486400" cy="23774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976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0F172A"/>
                </a:solidFill>
                <a:latin typeface="Calibri"/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34340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127C2"/>
                </a:solidFill>
                <a:latin typeface="Calibri"/>
              </a:rPr>
              <a:t>SMM-mutaxassis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846320"/>
            <a:ext cx="438912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5 ta akkauntni bitta ekrandan boshqaradi. Raqobatchilar bilan KPI taqqoslash.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069080"/>
            <a:ext cx="5486400" cy="23774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2976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0F172A"/>
                </a:solidFill>
                <a:latin typeface="Calibri"/>
              </a:rPr>
              <a:t>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34340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127C2"/>
                </a:solidFill>
                <a:latin typeface="Calibri"/>
              </a:rPr>
              <a:t>Talaba / izlanuvchi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846320"/>
            <a:ext cx="438912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Open-source — kodni ko'rish, o'rganish, o'z loyihasiga moslashtirish mumkin (MIT litsenziya).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127C2"/>
                </a:solidFill>
                <a:latin typeface="Calibri"/>
              </a:rPr>
              <a:t>Qaysi platformalar bilan ishlaydi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5 ta ijtimoiy tarmoq — uchtasi haqiqiy OAuth orqali ulanadi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91440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1064240" cy="7772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127C2"/>
                </a:solidFill>
                <a:latin typeface="Calibri"/>
              </a:rPr>
              <a:t>Telegram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673352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6A34A"/>
                </a:solidFill>
                <a:latin typeface="Calibri"/>
              </a:rPr>
              <a:t>Real OAuth · MTProto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91640"/>
            <a:ext cx="5486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Public kanal/guruh statistikasi: views, forwards, reaksiyalar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91440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514600"/>
            <a:ext cx="11064240" cy="7772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33472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127C2"/>
                </a:solidFill>
                <a:latin typeface="Calibri"/>
              </a:rPr>
              <a:t>YouTube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633472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6A34A"/>
                </a:solidFill>
                <a:latin typeface="Calibri"/>
              </a:rPr>
              <a:t>Real OAuth · Data API 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51760"/>
            <a:ext cx="5486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Videolar, watch time, kommentlar, obunachilar o'sishi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91440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474720"/>
            <a:ext cx="11064240" cy="7772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93592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127C2"/>
                </a:solidFill>
                <a:latin typeface="Calibri"/>
              </a:rPr>
              <a:t>VKontakte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593592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6A34A"/>
                </a:solidFill>
                <a:latin typeface="Calibri"/>
              </a:rPr>
              <a:t>Real OAuth · API v5.131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611880"/>
            <a:ext cx="5486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Devor postlari: layklar, kommentlar, repostlar, views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34840"/>
            <a:ext cx="91440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434840"/>
            <a:ext cx="11064240" cy="7772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53712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127C2"/>
                </a:solidFill>
                <a:latin typeface="Calibri"/>
              </a:rPr>
              <a:t>Instagram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553712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97706"/>
                </a:solidFill>
                <a:latin typeface="Calibri"/>
              </a:rPr>
              <a:t>Demo rejim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572000"/>
            <a:ext cx="5486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Business akkaunt + Meta App Review talab qiladi (1-2 hafta)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94960"/>
            <a:ext cx="91440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5394960"/>
            <a:ext cx="11064240" cy="7772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513832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127C2"/>
                </a:solidFill>
                <a:latin typeface="Calibri"/>
              </a:rPr>
              <a:t>X (Twitter)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513832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97706"/>
                </a:solidFill>
                <a:latin typeface="Calibri"/>
              </a:rPr>
              <a:t>Demo rejim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532120"/>
            <a:ext cx="5486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API Basic tarif $100/oy talab qiladi — hozircha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127C2"/>
                </a:solidFill>
                <a:latin typeface="Calibri"/>
              </a:rPr>
              <a:t>Uch tilli interfeys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Foydalanuvchi til'ni har vaqt o'zgartira oladi — UI to'liq tarjima qilinadi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657600" cy="3200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657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0">
                <a:solidFill>
                  <a:srgbClr val="0F172A"/>
                </a:solidFill>
                <a:latin typeface="Calibri"/>
              </a:rPr>
              <a:t>🇺🇿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4F46E5"/>
                </a:solidFill>
                <a:latin typeface="Calibri"/>
              </a:rPr>
              <a:t>O'zbekcha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31089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0F172A"/>
                </a:solidFill>
                <a:latin typeface="Calibri"/>
              </a:rPr>
              <a:t>Asosiy til. Mahalliy auditoriya uchun mukammal. Ijtimoiy tarmoq atamalariga moslashtirilgan.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657600" cy="3200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783080"/>
            <a:ext cx="3657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0">
                <a:solidFill>
                  <a:srgbClr val="0F172A"/>
                </a:solidFill>
                <a:latin typeface="Calibri"/>
              </a:rPr>
              <a:t>🇷🇺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974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EC4899"/>
                </a:solidFill>
                <a:latin typeface="Calibri"/>
              </a:rPr>
              <a:t>Русский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91840"/>
            <a:ext cx="31089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0F172A"/>
                </a:solidFill>
                <a:latin typeface="Calibri"/>
              </a:rPr>
              <a:t>Ko'p tillik o'zbek foydalanuvchilari uchun. URL prefix: /ru/. Kookie + cookie session.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554480"/>
            <a:ext cx="3657600" cy="3200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657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0">
                <a:solidFill>
                  <a:srgbClr val="0F172A"/>
                </a:solidFill>
                <a:latin typeface="Calibri"/>
              </a:rPr>
              <a:t>🇬🇧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974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6A34A"/>
                </a:solidFill>
                <a:latin typeface="Calibri"/>
              </a:rPr>
              <a:t>English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291840"/>
            <a:ext cx="31089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0F172A"/>
                </a:solidFill>
                <a:latin typeface="Calibri"/>
              </a:rPr>
              <a:t>Xalqaro foydalanuvchilar va talabalar uchun. Open-source kodni ko'rish uchun ham qulay.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Calibri"/>
              </a:rPr>
              <a:t>Texnik tomon: Django i18n_patterns + .po/.mo fayllar (gettext)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Calibri"/>
              </a:rPr>
              <a:t>Tarjima coverage: 783 / 783 string = 100%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Calibri"/>
              </a:rPr>
              <a:t>URL prefiks orqali: /uz/dashboard/, /ru/dashboard/, /en/dashboard/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127C2"/>
                </a:solidFill>
                <a:latin typeface="Calibri"/>
              </a:rPr>
              <a:t>AI sentiment tahlili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Komment matni avtomatik pozitiv / neytral / negativ ga ajratiladi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Har komment matni 'langdetect' bilan til aniqlanadi (uz/ru/en)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Ingliz uchun VADER — yengil, lug'at-asoslangan, sekundiga 1000+ msg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O'zbek/rus uchun XLM-RoBERTa — multilingual transformer (88-94% aniqlik)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Compound score → ≥0.05 pozitiv, ≤-0.05 negativ, oraliq neytral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Natija dashboard'da: donut chart + top kommentlar + mavzu × sentiment</a:t>
            </a:r>
          </a:p>
        </p:txBody>
      </p:sp>
      <p:pic>
        <p:nvPicPr>
          <p:cNvPr id="8" name="Picture 7" descr="fig-1-2-sentimen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554480"/>
            <a:ext cx="4754880" cy="8583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566928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Sentiment tahlil oqimi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127C2"/>
                </a:solidFill>
                <a:latin typeface="Calibri"/>
              </a:rPr>
              <a:t>Asosiy funksiyalar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Dashboard va Analytics — kundalik foydalanish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3716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0">
                <a:solidFill>
                  <a:srgbClr val="0F172A"/>
                </a:solidFill>
                <a:latin typeface="Calibri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828800"/>
            <a:ext cx="347472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3127C2"/>
                </a:solidFill>
                <a:latin typeface="Calibri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475488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KPI kartochkalari: postlar soni, jami likes, ko'rishlar, engagement rate, sentiment foizi. Faollik dinamikasi — 14 kunlik chiziqli grafik. Top postlar va eng faol kunlar.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486400" cy="43891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28800"/>
            <a:ext cx="13716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0">
                <a:solidFill>
                  <a:srgbClr val="0F172A"/>
                </a:solidFill>
                <a:latin typeface="Calibri"/>
              </a:rPr>
              <a:t>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47472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3127C2"/>
                </a:solidFill>
                <a:latin typeface="Calibri"/>
              </a:rPr>
              <a:t>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17520"/>
            <a:ext cx="475488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30 kunlik trend bilan to'liq tahlil. Platformalar bo'yicha taqqoslash jadvali. Top mavzular (TF-IDF), post turlari (rasm/video/reels), funnel (views→likes→reposts).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127C2"/>
                </a:solidFill>
                <a:latin typeface="Calibri"/>
              </a:rPr>
              <a:t>Asosiy funksiyalar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Sentiment va AI yordamchi — chuqur tahlil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3716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0">
                <a:solidFill>
                  <a:srgbClr val="0F172A"/>
                </a:solidFill>
                <a:latin typeface="Calibri"/>
              </a:rPr>
              <a:t>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828800"/>
            <a:ext cx="347472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3127C2"/>
                </a:solidFill>
                <a:latin typeface="Calibri"/>
              </a:rPr>
              <a:t>Sentiment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475488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Auditoriyaning kayfiyatini real vaqtda kuzatish. Pozitiv/neytral/negativ kommentlar ko'rinadi. Mavzu × sentiment matritsasi — qaysi mavzuda ko'p negativ kelishini ko'rsatadi.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486400" cy="43891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28800"/>
            <a:ext cx="13716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0">
                <a:solidFill>
                  <a:srgbClr val="0F172A"/>
                </a:solidFill>
                <a:latin typeface="Calibri"/>
              </a:rP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47472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3127C2"/>
                </a:solidFill>
                <a:latin typeface="Calibri"/>
              </a:rPr>
              <a:t>AI Chat + AI Xulosa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17520"/>
            <a:ext cx="475488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Tabiiy tilda savol berish: "Qaysi platforma yaxshi?". AI sizning ma'lumotingiz asosida javob beradi. Bir bosishda haftalik AI hisobot — eng muhim narsalar qisqacha xulosa qilinadi.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127C2"/>
                </a:solidFill>
                <a:latin typeface="Calibri"/>
              </a:rPr>
              <a:t>Asosiy funksiyalar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Hisobotlar, eng yaxshi vaqt va boshqa imkoniyatlar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3716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0">
                <a:solidFill>
                  <a:srgbClr val="0F172A"/>
                </a:solidFill>
                <a:latin typeface="Calibri"/>
              </a:rPr>
              <a:t>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828800"/>
            <a:ext cx="347472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3127C2"/>
                </a:solidFill>
                <a:latin typeface="Calibri"/>
              </a:rPr>
              <a:t>Eng yaxshi vaqt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475488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7×24 heatmap — qaysi kun va soatda postlaringiz eng ko'p engagement olganini ko'rsatadi. Top 3 vaqt slot — 'Shanba 19:00 — eng yaxshi' kabi aniq tavsiya.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486400" cy="43891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28800"/>
            <a:ext cx="13716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0">
                <a:solidFill>
                  <a:srgbClr val="0F172A"/>
                </a:solidFill>
                <a:latin typeface="Calibri"/>
              </a:rPr>
              <a:t>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47472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3127C2"/>
                </a:solidFill>
                <a:latin typeface="Calibri"/>
              </a:rPr>
              <a:t>Hisobot va ulashish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17520"/>
            <a:ext cx="475488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PDF (5 sahifa, brend cover) yoki Excel (Summary, Posts, Comments, Sentiment, Platforms). Public share havolasi — boshqalarga login'siz tahlilni ulashish mumkin.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127C2"/>
                </a:solidFill>
                <a:latin typeface="Calibri"/>
              </a:rPr>
              <a:t>Qanday texnologiyalardan foydalanildi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Sanoat standarti bo'lgan ochiq kutubxonalar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13716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91440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F46E5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Python 3.12 + Django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486400" cy="13716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91440" cy="13716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C4899"/>
                </a:solidFill>
                <a:latin typeface="Calibri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4028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Tailwind + Alpine.js + HTMX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08960"/>
            <a:ext cx="5486400" cy="13716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91440" cy="1371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6A34A"/>
                </a:solidFill>
                <a:latin typeface="Calibri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9476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PostgreSQL 16 + Redis cache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108960"/>
            <a:ext cx="5486400" cy="13716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108960"/>
            <a:ext cx="91440" cy="1371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29184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97706"/>
                </a:solidFill>
                <a:latin typeface="Calibri"/>
              </a:rPr>
              <a:t>Async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79476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Celery + Beat (har 6 soat)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63440"/>
            <a:ext cx="5486400" cy="13716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91440" cy="1371600"/>
          </a:xfrm>
          <a:prstGeom prst="rect">
            <a:avLst/>
          </a:prstGeom>
          <a:solidFill>
            <a:srgbClr val="312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4632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127C2"/>
                </a:solidFill>
                <a:latin typeface="Calibri"/>
              </a:rPr>
              <a:t>ML /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4924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VADER + XLM-RoBERTa + OpenAI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663440"/>
            <a:ext cx="5486400" cy="13716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663440"/>
            <a:ext cx="91440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84632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F46E5"/>
                </a:solidFill>
                <a:latin typeface="Calibri"/>
              </a:rPr>
              <a:t>DevOps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4924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Docker + GitHub Actions + Render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Hammasi bepul/open-source — litsenziya muammosi yo'q.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127C2"/>
                </a:solidFill>
                <a:latin typeface="Calibri"/>
              </a:rPr>
              <a:t>Ma'lumotlar bazasi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9 ta entity, ulanishlar va asosiy maydonlar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User — foydalanuvchi (email, til, vaqt zonasi, 2FA)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SocialAccount — har ulangan akkaunt (token shifrlangan)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Post — har bir tortib olingan post (likes, views, engagement)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Comment — postga yozilgan komment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SentimentResult — komment uchun pozitiv/negativ baho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FollowerSnapshot — vaqt bo'yicha obunachilar tarixi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Alert — anomaliya bildirishnomalari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ActivityLog — foydalanuvchi harakatlari (audit)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SavedView — saqlangan filterlar (Top Posts'da)</a:t>
            </a:r>
          </a:p>
        </p:txBody>
      </p:sp>
      <p:pic>
        <p:nvPicPr>
          <p:cNvPr id="8" name="Picture 7" descr="fig-2-4-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554480"/>
            <a:ext cx="4297680" cy="68095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594360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ER-diagramma (kichraytirilgan)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127C2"/>
                </a:solidFill>
                <a:latin typeface="Calibri"/>
              </a:rPr>
              <a:t>Xavfsizlik tomon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Foydalanuvchi ma'lumotlari ehtiyotkorlik bilan saqlanadi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21031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0F172A"/>
                </a:solidFill>
                <a:latin typeface="Calibri"/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127C2"/>
                </a:solidFill>
                <a:latin typeface="Calibri"/>
              </a:rPr>
              <a:t>OAuth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31720"/>
            <a:ext cx="4114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Foydalanuvchi paroli hech qachon biz tomonga yuborilmaydi. Token platforma o'zining auth sahifasidan keladi.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486400" cy="21031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0F172A"/>
                </a:solidFill>
                <a:latin typeface="Calibri"/>
              </a:rPr>
              <a:t>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182880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127C2"/>
                </a:solidFill>
                <a:latin typeface="Calibri"/>
              </a:rPr>
              <a:t>Fernet shifrlash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2331720"/>
            <a:ext cx="4114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OAuth tokenlar bazaga shifrlangan holda yoziladi (AES-128 + HMAC). Hatto bazaga to'g'ridan-to'g'ri kirilsa ham token ochilmaydi.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5486400" cy="21031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0F172A"/>
                </a:solidFill>
                <a:latin typeface="Calibri"/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11480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127C2"/>
                </a:solidFill>
                <a:latin typeface="Calibri"/>
              </a:rPr>
              <a:t>2FA (TOTP)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617720"/>
            <a:ext cx="4114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Google Authenticator yoki Authy bilan ishlovchi qo'shimcha himoya. Settings → 2FA → QR kodni scan qilish.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840480"/>
            <a:ext cx="5486400" cy="21031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11480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0F172A"/>
                </a:solidFill>
                <a:latin typeface="Calibri"/>
              </a:rPr>
              <a:t>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411480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127C2"/>
                </a:solidFill>
                <a:latin typeface="Calibri"/>
              </a:rPr>
              <a:t>HTTPS + CSRF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4617720"/>
            <a:ext cx="4114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Render.com avtomatik SSL sertifikat. Django CSRF middleware har POST so'rovni tekshiradi. SameSite cookies.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127C2"/>
                </a:solidFill>
                <a:latin typeface="Calibri"/>
              </a:rPr>
              <a:t>Bozordagi yechimlar bilan farq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Uchta yetakchi mahsulot bilan taqqoslash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286000" cy="502920"/>
          </a:xfrm>
          <a:prstGeom prst="rect">
            <a:avLst/>
          </a:prstGeom>
          <a:solidFill>
            <a:srgbClr val="312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Xususiyat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737360"/>
            <a:ext cx="2286000" cy="502920"/>
          </a:xfrm>
          <a:prstGeom prst="rect">
            <a:avLst/>
          </a:prstGeom>
          <a:solidFill>
            <a:srgbClr val="312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73736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Hootsuite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737360"/>
            <a:ext cx="2286000" cy="502920"/>
          </a:xfrm>
          <a:prstGeom prst="rect">
            <a:avLst/>
          </a:prstGeom>
          <a:solidFill>
            <a:srgbClr val="312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73736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Brand24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737360"/>
            <a:ext cx="2286000" cy="502920"/>
          </a:xfrm>
          <a:prstGeom prst="rect">
            <a:avLst/>
          </a:prstGeom>
          <a:solidFill>
            <a:srgbClr val="312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73736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Buffer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1737360"/>
            <a:ext cx="2286000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73736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Bizniki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40280"/>
            <a:ext cx="22860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4028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Multi-platform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240280"/>
            <a:ext cx="22860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224028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2240280"/>
            <a:ext cx="22860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224028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240280"/>
            <a:ext cx="22860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224028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2240280"/>
            <a:ext cx="22860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224028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74320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74320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O'zbek tili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274320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0" y="274320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274320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274320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274320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274320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274320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274320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246120"/>
            <a:ext cx="22860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24612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AI sentiment uz/ru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3246120"/>
            <a:ext cx="22860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0" y="324612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3246120"/>
            <a:ext cx="22860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324612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qisman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0" y="3246120"/>
            <a:ext cx="22860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324612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0" y="3246120"/>
            <a:ext cx="22860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0" y="324612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74904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74904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Open source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374904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0" y="374904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0" y="374904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0" y="374904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0" y="374904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0" y="374904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01200" y="374904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0" y="374904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251960"/>
            <a:ext cx="22860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25196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Narx (oylik)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0" y="4251960"/>
            <a:ext cx="22860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0" y="425196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$99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0" y="4251960"/>
            <a:ext cx="22860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0" y="425196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$79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0" y="4251960"/>
            <a:ext cx="22860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0" y="425196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$15+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01200" y="4251960"/>
            <a:ext cx="22860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01200" y="425196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6A34A"/>
                </a:solidFill>
                <a:latin typeface="Calibri"/>
              </a:rPr>
              <a:t>BEPUL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Calibri"/>
              </a:rPr>
              <a:t>Bizning yechim — bepul, open-source va o'zbek tilida — bozorda alohida joyni egallaydi.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127C2"/>
                </a:solidFill>
                <a:latin typeface="Calibri"/>
              </a:rPr>
              <a:t>Loyiha raqamlarda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Asosiy ko'rsatkichlar — diplom himoyasi uchun statistika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697480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697480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4F46E5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Calibri"/>
              </a:rPr>
              <a:t>Ijtimoiy tarmoq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554480"/>
            <a:ext cx="2697480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554480"/>
            <a:ext cx="2697480" cy="914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78308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EC4899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3464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Calibri"/>
              </a:rPr>
              <a:t>Til (uz/ru/en)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2697480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269748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78308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16A34A"/>
                </a:solidFill>
                <a:latin typeface="Calibri"/>
              </a:rPr>
              <a:t>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83464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Calibri"/>
              </a:rPr>
              <a:t>Test (pytest)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554480"/>
            <a:ext cx="2697480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554480"/>
            <a:ext cx="2697480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78308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D97706"/>
                </a:solidFill>
                <a:latin typeface="Calibr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83464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Calibri"/>
              </a:rPr>
              <a:t>Tarjima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74903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260 post + 1665 komment demo rejimda yig'ilgan va tahlil qilingan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9 ta database entity (User, SocialAccount, Post, Comment, Sentiment va h.k.)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3000+ qator Python kod, 800+ qator HTML template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GitHub Actions CI/CD avtomatik deploy — har commit'da Render'ga uzatiladi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Live URL: social-media-analytics-9rre.onrender.com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127C2"/>
                </a:solidFill>
                <a:latin typeface="Calibri"/>
              </a:rPr>
              <a:t>Sentiment tahlil natijalari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1665 komment uchun til va kayfiyat taqsimoti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-3-7-sentiment-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5221224" cy="4114800"/>
          </a:xfrm>
          <a:prstGeom prst="rect">
            <a:avLst/>
          </a:prstGeom>
        </p:spPr>
      </p:pic>
      <p:pic>
        <p:nvPicPr>
          <p:cNvPr id="8" name="Picture 7" descr="fig-3-9-language-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637412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C4899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48% pozitiv kommentlar — auditoriya kontentni yoqtiradi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C4899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O'zbek tilidagi kommentlar 49.5% — mahalliy auditoriya ustun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C4899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Bu nisbat o'zbek ijtimoiy tarmog'ining real holatiga yaqin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127C2"/>
                </a:solidFill>
                <a:latin typeface="Calibri"/>
              </a:rPr>
              <a:t>Deploy va avtomatik yangilash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GitHub commit → Render.com — qo'lda hech narsa qilmaymiz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Developer kompyuterida kod yozadi va GitHub'ga commit qiladi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GitHub Actions avtomatik testlarni ishga tushiradi (65 ta pytest)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Test o'tmasa — PR bloklanadi, email keladi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O'tgach — Render'ga webhook yuboriladi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Render: pip install → migrate → collectstatic → gunicorn restart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5 daqiqada yangi versiya live ishlamoqda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EC489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Health check muvaffaqiyatsiz bo'lsa — avtomatik rollback</a:t>
            </a:r>
          </a:p>
        </p:txBody>
      </p:sp>
      <p:pic>
        <p:nvPicPr>
          <p:cNvPr id="8" name="Picture 7" descr="fig-3-5-ci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4297680" cy="6364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585216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CI/CD pipeline (kichik diagramma)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127C2"/>
                </a:solidFill>
                <a:latin typeface="Calibri"/>
              </a:rPr>
              <a:t>Qo'shimcha imkoniyatlar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Asosiy funksiyalardan tashqari foydalanuvchini xursand qiluvchi narsalar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4899"/>
                </a:solidFill>
                <a:latin typeface="Calibri"/>
              </a:rPr>
              <a:t>•  </a:t>
            </a:r>
            <a:r>
              <a:rPr sz="1600">
                <a:solidFill>
                  <a:srgbClr val="0F172A"/>
                </a:solidFill>
                <a:latin typeface="Calibri"/>
              </a:rPr>
              <a:t>Mobil PWA — telefon home screen'iga o'rnatish, offline qisman ishlaydi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4899"/>
                </a:solidFill>
                <a:latin typeface="Calibri"/>
              </a:rPr>
              <a:t>•  </a:t>
            </a:r>
            <a:r>
              <a:rPr sz="1600">
                <a:solidFill>
                  <a:srgbClr val="0F172A"/>
                </a:solidFill>
                <a:latin typeface="Calibri"/>
              </a:rPr>
              <a:t>Web push notifications — yangi alert kelganda brauzer pop-up bildirishnomasi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4899"/>
                </a:solidFill>
                <a:latin typeface="Calibri"/>
              </a:rPr>
              <a:t>•  </a:t>
            </a:r>
            <a:r>
              <a:rPr sz="1600">
                <a:solidFill>
                  <a:srgbClr val="0F172A"/>
                </a:solidFill>
                <a:latin typeface="Calibri"/>
              </a:rPr>
              <a:t>Saqlangan filterlar — Top Posts'da 'Mening filterim' kabi keylab qo'yish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4899"/>
                </a:solidFill>
                <a:latin typeface="Calibri"/>
              </a:rPr>
              <a:t>•  </a:t>
            </a:r>
            <a:r>
              <a:rPr sz="1600">
                <a:solidFill>
                  <a:srgbClr val="0F172A"/>
                </a:solidFill>
                <a:latin typeface="Calibri"/>
              </a:rPr>
              <a:t>Faollik tarixi — har bir login, sync, AI so'rov, 2FA o'zgarish loglanadi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4899"/>
                </a:solidFill>
                <a:latin typeface="Calibri"/>
              </a:rPr>
              <a:t>•  </a:t>
            </a:r>
            <a:r>
              <a:rPr sz="1600">
                <a:solidFill>
                  <a:srgbClr val="0F172A"/>
                </a:solidFill>
                <a:latin typeface="Calibri"/>
              </a:rPr>
              <a:t>Anomaliya bildirishnomasi — engagement keskin tushsa email keladi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4899"/>
                </a:solidFill>
                <a:latin typeface="Calibri"/>
              </a:rPr>
              <a:t>•  </a:t>
            </a:r>
            <a:r>
              <a:rPr sz="1600">
                <a:solidFill>
                  <a:srgbClr val="0F172A"/>
                </a:solidFill>
                <a:latin typeface="Calibri"/>
              </a:rPr>
              <a:t>Email haftalik xulosa — Monday digest avtomat yuboriladi (agar AI sozlangan bo'lsa)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4899"/>
                </a:solidFill>
                <a:latin typeface="Calibri"/>
              </a:rPr>
              <a:t>•  </a:t>
            </a:r>
            <a:r>
              <a:rPr sz="1600">
                <a:solidFill>
                  <a:srgbClr val="0F172A"/>
                </a:solidFill>
                <a:latin typeface="Calibri"/>
              </a:rPr>
              <a:t>Onboarding tour — 8-qadamli sahifaning birinchi bosib tanishish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127C2"/>
                </a:solidFill>
                <a:latin typeface="Calibri"/>
              </a:rPr>
              <a:t>Loyihaning ahamiyati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Diplom doirasidan tashqarida — kim uchun foydali?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4899"/>
                </a:solidFill>
                <a:latin typeface="Calibri"/>
              </a:rPr>
              <a:t>•  </a:t>
            </a:r>
            <a:r>
              <a:rPr sz="1600">
                <a:solidFill>
                  <a:srgbClr val="0F172A"/>
                </a:solidFill>
                <a:latin typeface="Calibri"/>
              </a:rPr>
              <a:t>O'zbekistondagi 14 mln+ ijtimoiy tarmoq foydalanuvchisi uchun mahalliy yechim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4899"/>
                </a:solidFill>
                <a:latin typeface="Calibri"/>
              </a:rPr>
              <a:t>•  </a:t>
            </a:r>
            <a:r>
              <a:rPr sz="1600">
                <a:solidFill>
                  <a:srgbClr val="0F172A"/>
                </a:solidFill>
                <a:latin typeface="Calibri"/>
              </a:rPr>
              <a:t>AI sentiment tahlili o'zbek tilida — bunday yechim deyarli yo'q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4899"/>
                </a:solidFill>
                <a:latin typeface="Calibri"/>
              </a:rPr>
              <a:t>•  </a:t>
            </a:r>
            <a:r>
              <a:rPr sz="1600">
                <a:solidFill>
                  <a:srgbClr val="0F172A"/>
                </a:solidFill>
                <a:latin typeface="Calibri"/>
              </a:rPr>
              <a:t>Kichik biznes va blogerlar Hootsuite/Brand24 o'rniga bepul foydalanishi mumkin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4899"/>
                </a:solidFill>
                <a:latin typeface="Calibri"/>
              </a:rPr>
              <a:t>•  </a:t>
            </a:r>
            <a:r>
              <a:rPr sz="1600">
                <a:solidFill>
                  <a:srgbClr val="0F172A"/>
                </a:solidFill>
                <a:latin typeface="Calibri"/>
              </a:rPr>
              <a:t>Open-source — talabalar va dasturchilar kodni o'rganib o'z loyihasiga moslashtirishi mumkin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4899"/>
                </a:solidFill>
                <a:latin typeface="Calibri"/>
              </a:rPr>
              <a:t>•  </a:t>
            </a:r>
            <a:r>
              <a:rPr sz="1600">
                <a:solidFill>
                  <a:srgbClr val="0F172A"/>
                </a:solidFill>
                <a:latin typeface="Calibri"/>
              </a:rPr>
              <a:t>Davlat dasturlariga (Raqamli O'zbekiston, AI rivojlantirish) hissa qo'shadi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4899"/>
                </a:solidFill>
                <a:latin typeface="Calibri"/>
              </a:rPr>
              <a:t>•  </a:t>
            </a:r>
            <a:r>
              <a:rPr sz="1600">
                <a:solidFill>
                  <a:srgbClr val="0F172A"/>
                </a:solidFill>
                <a:latin typeface="Calibri"/>
              </a:rPr>
              <a:t>Universitet kafedrasi uchun — keyingi diplomlar bu kodni asos qilib olishi mumkin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4899"/>
                </a:solidFill>
                <a:latin typeface="Calibri"/>
              </a:rPr>
              <a:t>•  </a:t>
            </a:r>
            <a:r>
              <a:rPr sz="1600">
                <a:solidFill>
                  <a:srgbClr val="0F172A"/>
                </a:solidFill>
                <a:latin typeface="Calibri"/>
              </a:rPr>
              <a:t>Rabt qiluvchi: real ishlovchi mahsulot https://social-media-analytics-9rre.onrender.com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000" b="1">
                <a:solidFill>
                  <a:srgbClr val="EC4899"/>
                </a:solidFill>
                <a:latin typeface="Calibri"/>
              </a:rPr>
              <a:t>•  </a:t>
            </a:r>
            <a:r>
              <a:rPr sz="2000">
                <a:solidFill>
                  <a:srgbClr val="FFFFFF"/>
                </a:solidFill>
                <a:latin typeface="Calibri"/>
              </a:rPr>
              <a:t>Loyiha to'liq ishlab chiqildi va live ishlamoqda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000" b="1">
                <a:solidFill>
                  <a:srgbClr val="EC4899"/>
                </a:solidFill>
                <a:latin typeface="Calibri"/>
              </a:rPr>
              <a:t>•  </a:t>
            </a:r>
            <a:r>
              <a:rPr sz="2000">
                <a:solidFill>
                  <a:srgbClr val="FFFFFF"/>
                </a:solidFill>
                <a:latin typeface="Calibri"/>
              </a:rPr>
              <a:t>5 platforma + 3 til + AI sentiment + 2FA + PWA — yaxlit mahsulot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000" b="1">
                <a:solidFill>
                  <a:srgbClr val="EC4899"/>
                </a:solidFill>
                <a:latin typeface="Calibri"/>
              </a:rPr>
              <a:t>•  </a:t>
            </a:r>
            <a:r>
              <a:rPr sz="2000">
                <a:solidFill>
                  <a:srgbClr val="FFFFFF"/>
                </a:solidFill>
                <a:latin typeface="Calibri"/>
              </a:rPr>
              <a:t>Open-source MIT — boshqa o'zbek dasturchilari foydalanishi mumkin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000" b="1">
                <a:solidFill>
                  <a:srgbClr val="EC4899"/>
                </a:solidFill>
                <a:latin typeface="Calibri"/>
              </a:rPr>
              <a:t>•  </a:t>
            </a:r>
            <a:r>
              <a:rPr sz="2000">
                <a:solidFill>
                  <a:srgbClr val="FFFFFF"/>
                </a:solidFill>
                <a:latin typeface="Calibri"/>
              </a:rPr>
              <a:t>Bozor uchun haqiqiy qiymat — bepul, mahalliy va sifatli yechim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1069848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Diqqat va savollaringiz uchun rahmat!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GitHub: github.com/Sardor2004777/social-media-analytics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Live: social-media-analytics-9rre.onrender.com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